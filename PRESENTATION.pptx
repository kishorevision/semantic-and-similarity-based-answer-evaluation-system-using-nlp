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75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77" r:id="rId17"/>
    <p:sldId id="271" r:id="rId18"/>
    <p:sldId id="276" r:id="rId19"/>
  </p:sldIdLst>
  <p:sldSz cx="12192000" cy="6858000"/>
  <p:notesSz cx="6858000" cy="9144000"/>
  <p:embeddedFontLst>
    <p:embeddedFont>
      <p:font typeface="Arial Narrow" panose="020B0606020202030204" pitchFamily="34" charset="0"/>
      <p:regular r:id="rId21"/>
      <p:bold r:id="rId22"/>
      <p:italic r:id="rId23"/>
      <p:boldItalic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Arial Rounded MT Bold" panose="020F0704030504030204" pitchFamily="34" charset="0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hFDyGgmbSXtHPxQabsInOr5S9Y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282954-5174-4F31-A0F9-3197DDE5C557}">
  <a:tblStyle styleId="{0A282954-5174-4F31-A0F9-3197DDE5C55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 b="off" i="off"/>
      <a:tcStyle>
        <a:tcBdr/>
        <a:fill>
          <a:solidFill>
            <a:srgbClr val="D4E2CE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4E2CE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29" autoAdjust="0"/>
    <p:restoredTop sz="93072" autoAdjust="0"/>
  </p:normalViewPr>
  <p:slideViewPr>
    <p:cSldViewPr snapToGrid="0">
      <p:cViewPr>
        <p:scale>
          <a:sx n="99" d="100"/>
          <a:sy n="99" d="100"/>
        </p:scale>
        <p:origin x="226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34859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21397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85004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41447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31414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56608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06300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9878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40785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807592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126091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286529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662627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977108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993416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052732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6672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body" idx="1"/>
          </p:nvPr>
        </p:nvSpPr>
        <p:spPr>
          <a:xfrm>
            <a:off x="0" y="2342250"/>
            <a:ext cx="12119100" cy="4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</a:t>
            </a:r>
            <a:r>
              <a:rPr lang="en-US" sz="3600" b="1" dirty="0" smtClean="0">
                <a:latin typeface="Arial Narrow"/>
                <a:ea typeface="Arial Narrow"/>
                <a:cs typeface="Arial Narrow"/>
                <a:sym typeface="Arial Narrow"/>
              </a:rPr>
              <a:t>COMPUTER </a:t>
            </a: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SCIENCE AND </a:t>
            </a:r>
            <a:r>
              <a:rPr lang="en-US" sz="3600" b="1" dirty="0" smtClean="0">
                <a:latin typeface="Arial Narrow"/>
                <a:ea typeface="Arial Narrow"/>
                <a:cs typeface="Arial Narrow"/>
                <a:sym typeface="Arial Narrow"/>
              </a:rPr>
              <a:t>ENGINEERING</a:t>
            </a:r>
          </a:p>
          <a:p>
            <a:pPr marL="0" lvl="0" indent="0" algn="ctr">
              <a:buSzPts val="3600"/>
              <a:buNone/>
            </a:pPr>
            <a:r>
              <a:rPr lang="en-GB" b="1" dirty="0" smtClean="0">
                <a:latin typeface="Arial Narrow"/>
                <a:ea typeface="Arial Narrow"/>
                <a:cs typeface="Arial Narrow"/>
                <a:sym typeface="Arial Narrow"/>
              </a:rPr>
              <a:t>20CS8504 </a:t>
            </a:r>
            <a:r>
              <a:rPr lang="en-GB" b="1" dirty="0">
                <a:latin typeface="Arial Narrow"/>
                <a:ea typeface="Arial Narrow"/>
                <a:cs typeface="Arial Narrow"/>
                <a:sym typeface="Arial Narrow"/>
              </a:rPr>
              <a:t>&amp; PROJECT WORK</a:t>
            </a:r>
          </a:p>
          <a:p>
            <a:pPr marL="0" lvl="0" indent="0" algn="ctr">
              <a:buSzPts val="3600"/>
              <a:buNone/>
            </a:pPr>
            <a:r>
              <a:rPr lang="en-GB" b="1" dirty="0">
                <a:latin typeface="Arial Narrow"/>
                <a:ea typeface="Arial Narrow"/>
                <a:cs typeface="Arial Narrow"/>
                <a:sym typeface="Arial Narrow"/>
              </a:rPr>
              <a:t>END SEMESTER PRACTICAL EXAMINATION- APRIL / MAY - 2026</a:t>
            </a:r>
            <a:endParaRPr lang="en-GB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lnSpc>
                <a:spcPct val="150000"/>
              </a:lnSpc>
              <a:buSzPts val="2400"/>
              <a:buNone/>
            </a:pPr>
            <a:r>
              <a:rPr lang="en-GB" sz="2400" b="1" dirty="0">
                <a:latin typeface="Arial Narrow"/>
                <a:ea typeface="Arial Narrow"/>
                <a:cs typeface="Arial Narrow"/>
                <a:sym typeface="Arial Narrow"/>
              </a:rPr>
              <a:t>Batch No.: 5</a:t>
            </a:r>
            <a:endParaRPr lang="en-GB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lnSpc>
                <a:spcPct val="150000"/>
              </a:lnSpc>
              <a:buSzPts val="2400"/>
              <a:buNone/>
            </a:pPr>
            <a:r>
              <a:rPr lang="en-GB" sz="2400" b="1" dirty="0">
                <a:latin typeface="Arial Narrow"/>
                <a:ea typeface="Arial Narrow"/>
                <a:cs typeface="Arial Narrow"/>
                <a:sym typeface="Arial Narrow"/>
              </a:rPr>
              <a:t>Date: 30-03-2026</a:t>
            </a:r>
            <a:endParaRPr lang="en-GB" dirty="0"/>
          </a:p>
          <a:p>
            <a:pPr marL="0" lvl="0" indent="0">
              <a:lnSpc>
                <a:spcPct val="150000"/>
              </a:lnSpc>
              <a:buSzPts val="2400"/>
              <a:buNone/>
            </a:pPr>
            <a:r>
              <a:rPr lang="en-GB" sz="2400" b="1" dirty="0">
                <a:latin typeface="Arial Narrow"/>
                <a:ea typeface="Arial Narrow"/>
                <a:cs typeface="Arial Narrow"/>
                <a:sym typeface="Arial Narrow"/>
              </a:rPr>
              <a:t>Session: FN</a:t>
            </a:r>
            <a:endParaRPr lang="en-GB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l="16357" r="14907" b="8148"/>
          <a:stretch/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0"/>
            <a:ext cx="5348811" cy="1873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19100" cy="161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SEMANTIC AND SIMILARITY-BASED ANSWER </a:t>
            </a:r>
            <a:r>
              <a:rPr lang="en-US" sz="3600" b="1" dirty="0" smtClean="0">
                <a:latin typeface="Arial Narrow"/>
                <a:ea typeface="Arial Narrow"/>
                <a:cs typeface="Arial Narrow"/>
                <a:sym typeface="Arial Narrow"/>
              </a:rPr>
              <a:t>EVALUATION </a:t>
            </a: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SYSTEM USING NLP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495816" y="3594414"/>
            <a:ext cx="3850041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Guide Name: </a:t>
            </a:r>
            <a:endParaRPr lang="en-US" sz="2400" b="1" dirty="0" smtClean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2400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Mr. D.P</a:t>
            </a:r>
            <a:r>
              <a:rPr lang="en-US" sz="2400" b="1" dirty="0" smtClean="0">
                <a:latin typeface="Arial Narrow"/>
                <a:ea typeface="Arial Narrow"/>
                <a:cs typeface="Arial Narrow"/>
                <a:sym typeface="Arial Narrow"/>
              </a:rPr>
              <a:t>. Devan </a:t>
            </a: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M.E.,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Assistant professor, CSE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7386833" y="3631450"/>
            <a:ext cx="46125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Team Members</a:t>
            </a:r>
            <a:r>
              <a:rPr lang="en-US" sz="2400" b="1" dirty="0" smtClean="0">
                <a:latin typeface="Arial Narrow"/>
                <a:ea typeface="Arial Narrow"/>
                <a:cs typeface="Arial Narrow"/>
                <a:sym typeface="Arial Narrow"/>
              </a:rPr>
              <a:t>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2400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811722104078 – KISHORE M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811722104097 – NACHIAPPAN PL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811722104119 – RAKSHANA G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811722104305 – RASEEN RAJA 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838200" y="1380750"/>
            <a:ext cx="10515600" cy="478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indent="-457200" algn="just">
              <a:spcBef>
                <a:spcPts val="0"/>
              </a:spcBef>
              <a:buClr>
                <a:schemeClr val="tx1"/>
              </a:buClr>
              <a:buSzPts val="2800"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Manual evaluation of descriptive answer sheets is time-consuming and subjective</a:t>
            </a:r>
            <a:r>
              <a:rPr lang="en-US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.</a:t>
            </a:r>
          </a:p>
          <a:p>
            <a:pPr indent="-457200" algn="just">
              <a:spcBef>
                <a:spcPts val="0"/>
              </a:spcBef>
              <a:buClr>
                <a:schemeClr val="tx1"/>
              </a:buClr>
              <a:buSzPts val="2800"/>
            </a:pPr>
            <a:endParaRPr dirty="0">
              <a:solidFill>
                <a:schemeClr val="tx1"/>
              </a:solidFill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indent="-457200" algn="just">
              <a:buClr>
                <a:schemeClr val="tx1"/>
              </a:buClr>
              <a:buSzPts val="2800"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Different evaluators may assign different marks for the same answer due to bias</a:t>
            </a:r>
            <a:r>
              <a:rPr lang="en-US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.</a:t>
            </a:r>
          </a:p>
          <a:p>
            <a:pPr indent="-457200" algn="just">
              <a:buClr>
                <a:schemeClr val="tx1"/>
              </a:buClr>
              <a:buSzPts val="2800"/>
            </a:pPr>
            <a:endParaRPr dirty="0">
              <a:solidFill>
                <a:schemeClr val="tx1"/>
              </a:solidFill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indent="-457200" algn="just">
              <a:buClr>
                <a:schemeClr val="tx1"/>
              </a:buClr>
              <a:buSzPts val="2800"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With the growth of AI, Natural Language Processing (NLP) enables understanding the meaning of text rather than exact words</a:t>
            </a:r>
            <a:r>
              <a:rPr lang="en-US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.</a:t>
            </a:r>
          </a:p>
          <a:p>
            <a:pPr indent="-457200" algn="just">
              <a:buClr>
                <a:schemeClr val="tx1"/>
              </a:buClr>
              <a:buSzPts val="2800"/>
            </a:pPr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indent="-457200" algn="just">
              <a:buClr>
                <a:schemeClr val="tx1"/>
              </a:buClr>
              <a:buSzPts val="2800"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It proposes an automated answer evaluation system that compares student answers with model answers using semantic similarity techniques</a:t>
            </a:r>
            <a:r>
              <a:rPr lang="en-US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.</a:t>
            </a:r>
          </a:p>
          <a:p>
            <a:pPr indent="-457200" algn="just">
              <a:buClr>
                <a:schemeClr val="tx1"/>
              </a:buClr>
              <a:buSzPts val="2800"/>
            </a:pPr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indent="-457200" algn="just">
              <a:buClr>
                <a:schemeClr val="tx1"/>
              </a:buClr>
              <a:buSzPts val="2800"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The system ensures fair, consistent, and faster evaluation of subjective answers.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838200" y="161549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indent="-457200">
              <a:spcBef>
                <a:spcPts val="0"/>
              </a:spcBef>
              <a:buSzPts val="2800"/>
            </a:pPr>
            <a:r>
              <a:rPr lang="en-US" dirty="0">
                <a:latin typeface="Arial Narrow" panose="020B0606020202030204" pitchFamily="34" charset="0"/>
              </a:rPr>
              <a:t>Automation of descriptive answer evaluation</a:t>
            </a:r>
            <a:r>
              <a:rPr lang="en-US" dirty="0" smtClean="0">
                <a:latin typeface="Arial Narrow" panose="020B0606020202030204" pitchFamily="34" charset="0"/>
              </a:rPr>
              <a:t>.</a:t>
            </a:r>
          </a:p>
          <a:p>
            <a:pPr indent="-457200">
              <a:spcBef>
                <a:spcPts val="0"/>
              </a:spcBef>
              <a:buSzPts val="2800"/>
            </a:pP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indent="-457200">
              <a:buSzPts val="2800"/>
            </a:pPr>
            <a:r>
              <a:rPr lang="en-US" dirty="0">
                <a:latin typeface="Arial Narrow" panose="020B0606020202030204" pitchFamily="34" charset="0"/>
              </a:rPr>
              <a:t>Reduction of human bias and subjectivity in grading</a:t>
            </a:r>
            <a:r>
              <a:rPr lang="en-US" dirty="0" smtClean="0">
                <a:latin typeface="Arial Narrow" panose="020B0606020202030204" pitchFamily="34" charset="0"/>
              </a:rPr>
              <a:t>.</a:t>
            </a:r>
          </a:p>
          <a:p>
            <a:pPr indent="-457200">
              <a:buSzPts val="2800"/>
            </a:pP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indent="-457200">
              <a:buSzPts val="2800"/>
            </a:pPr>
            <a:r>
              <a:rPr lang="en-US" dirty="0">
                <a:latin typeface="Arial Narrow" panose="020B0606020202030204" pitchFamily="34" charset="0"/>
              </a:rPr>
              <a:t>Semantic comparison between student answers and model answers</a:t>
            </a:r>
            <a:r>
              <a:rPr lang="en-US" dirty="0" smtClean="0">
                <a:latin typeface="Arial Narrow" panose="020B0606020202030204" pitchFamily="34" charset="0"/>
              </a:rPr>
              <a:t>.</a:t>
            </a:r>
            <a:endParaRPr lang="en-GB" dirty="0" smtClean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indent="-457200">
              <a:buSzPts val="2800"/>
            </a:pPr>
            <a:endParaRPr lang="en-GB" dirty="0">
              <a:latin typeface="Arial Narrow" panose="020B0606020202030204" pitchFamily="34" charset="0"/>
              <a:sym typeface="Arial Narrow"/>
            </a:endParaRPr>
          </a:p>
          <a:p>
            <a:pPr indent="-457200">
              <a:buSzPts val="2800"/>
            </a:pPr>
            <a:r>
              <a:rPr lang="en-US" dirty="0" smtClean="0">
                <a:latin typeface="Arial Narrow" panose="020B0606020202030204" pitchFamily="34" charset="0"/>
              </a:rPr>
              <a:t>Fair</a:t>
            </a:r>
            <a:r>
              <a:rPr lang="en-US" dirty="0">
                <a:latin typeface="Arial Narrow" panose="020B0606020202030204" pitchFamily="34" charset="0"/>
              </a:rPr>
              <a:t>, accurate, and consistent mark allocation</a:t>
            </a:r>
            <a:r>
              <a:rPr lang="en-US" dirty="0" smtClean="0">
                <a:latin typeface="Arial Narrow" panose="020B0606020202030204" pitchFamily="34" charset="0"/>
              </a:rPr>
              <a:t>.</a:t>
            </a:r>
          </a:p>
          <a:p>
            <a:pPr indent="-457200">
              <a:buSzPts val="2800"/>
            </a:pPr>
            <a:endParaRPr dirty="0">
              <a:latin typeface="Arial Narrow" panose="020B0606020202030204" pitchFamily="34" charset="0"/>
            </a:endParaRPr>
          </a:p>
          <a:p>
            <a:pPr indent="-457200">
              <a:buSzPts val="2800"/>
            </a:pPr>
            <a:r>
              <a:rPr lang="en-US" dirty="0">
                <a:latin typeface="Arial Narrow" panose="020B0606020202030204" pitchFamily="34" charset="0"/>
              </a:rPr>
              <a:t>Minimization of time and effort in manual evaluation.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5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 sz="1400" b="0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5"/>
          <p:cNvGraphicFramePr/>
          <p:nvPr>
            <p:extLst>
              <p:ext uri="{D42A27DB-BD31-4B8C-83A1-F6EECF244321}">
                <p14:modId xmlns:p14="http://schemas.microsoft.com/office/powerpoint/2010/main" val="236127026"/>
              </p:ext>
            </p:extLst>
          </p:nvPr>
        </p:nvGraphicFramePr>
        <p:xfrm>
          <a:off x="137680" y="1206392"/>
          <a:ext cx="11985475" cy="4663243"/>
        </p:xfrm>
        <a:graphic>
          <a:graphicData uri="http://schemas.openxmlformats.org/drawingml/2006/table">
            <a:tbl>
              <a:tblPr firstRow="1" bandRow="1">
                <a:noFill/>
                <a:tableStyleId>{0A282954-5174-4F31-A0F9-3197DDE5C557}</a:tableStyleId>
              </a:tblPr>
              <a:tblGrid>
                <a:gridCol w="29759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975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9759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0577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92632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rial Narrow" panose="020B0606020202030204" pitchFamily="34" charset="0"/>
                        </a:rPr>
                        <a:t>TITLE</a:t>
                      </a:r>
                      <a:endParaRPr lang="en-US" sz="24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latin typeface="Arial Narrow" panose="020B0606020202030204" pitchFamily="34" charset="0"/>
                        </a:rPr>
                        <a:t>AUTHORS</a:t>
                      </a:r>
                      <a:endParaRPr lang="en-US" sz="240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latin typeface="Arial Narrow" panose="020B0606020202030204" pitchFamily="34" charset="0"/>
                        </a:rPr>
                        <a:t>PUBLISHER</a:t>
                      </a:r>
                      <a:endParaRPr lang="en-US" sz="240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rial Narrow" panose="020B0606020202030204" pitchFamily="34" charset="0"/>
                        </a:rPr>
                        <a:t>TECHNOLOGY USED</a:t>
                      </a:r>
                      <a:endParaRPr lang="en-US" sz="24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rial Narrow" panose="020B0606020202030204" pitchFamily="34" charset="0"/>
                        </a:rPr>
                        <a:t>Automated Answer Sheet Evaluation Using OCR and NLP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 Narrow" panose="020B0606020202030204" pitchFamily="34" charset="0"/>
                        </a:rPr>
                        <a:t>B. Santhosh, A.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</a:rPr>
                        <a:t>Sagar</a:t>
                      </a:r>
                      <a:r>
                        <a:rPr lang="en-US" sz="1600" dirty="0">
                          <a:latin typeface="Arial Narrow" panose="020B0606020202030204" pitchFamily="34" charset="0"/>
                        </a:rPr>
                        <a:t>, B.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</a:rPr>
                        <a:t>Manikanta</a:t>
                      </a:r>
                      <a:r>
                        <a:rPr lang="en-US" sz="1600" dirty="0">
                          <a:latin typeface="Arial Narrow" panose="020B0606020202030204" pitchFamily="34" charset="0"/>
                        </a:rPr>
                        <a:t>, A.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</a:rPr>
                        <a:t>Abhiram</a:t>
                      </a:r>
                      <a:r>
                        <a:rPr lang="en-US" sz="1600" dirty="0">
                          <a:latin typeface="Arial Narrow" panose="020B0606020202030204" pitchFamily="34" charset="0"/>
                        </a:rPr>
                        <a:t>, Ch. Mani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</a:rPr>
                        <a:t>Bhargavi</a:t>
                      </a:r>
                      <a:endParaRPr 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latin typeface="Arial Narrow" panose="020B0606020202030204" pitchFamily="34" charset="0"/>
                        </a:rPr>
                        <a:t>International Journal of Research Publication and Reviews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latin typeface="Arial Narrow" panose="020B0606020202030204" pitchFamily="34" charset="0"/>
                        </a:rPr>
                        <a:t>EasyOCR, </a:t>
                      </a:r>
                      <a:r>
                        <a:rPr lang="en-GB" sz="1600" dirty="0">
                          <a:latin typeface="Arial Narrow" panose="020B0606020202030204" pitchFamily="34" charset="0"/>
                        </a:rPr>
                        <a:t>NLP, Cosine Similarity, Flask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rial Narrow" panose="020B0606020202030204" pitchFamily="34" charset="0"/>
                        </a:rPr>
                        <a:t>ASSESS – Automated Subjective Answer Evaluation Using Semantic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Arial Narrow" panose="020B0606020202030204" pitchFamily="34" charset="0"/>
                        </a:rPr>
                        <a:t>Johri</a:t>
                      </a:r>
                      <a:r>
                        <a:rPr lang="en-US" sz="1600" dirty="0">
                          <a:latin typeface="Arial Narrow" panose="020B0606020202030204" pitchFamily="34" charset="0"/>
                        </a:rPr>
                        <a:t> E.,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</a:rPr>
                        <a:t>Dedhia</a:t>
                      </a:r>
                      <a:r>
                        <a:rPr lang="en-US" sz="1600" dirty="0">
                          <a:latin typeface="Arial Narrow" panose="020B0606020202030204" pitchFamily="34" charset="0"/>
                        </a:rPr>
                        <a:t> N., Bohra K.,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</a:rPr>
                        <a:t>Chandak</a:t>
                      </a:r>
                      <a:r>
                        <a:rPr lang="en-US" sz="1600" dirty="0">
                          <a:latin typeface="Arial Narrow" panose="020B0606020202030204" pitchFamily="34" charset="0"/>
                        </a:rPr>
                        <a:t> P.,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</a:rPr>
                        <a:t>Adhikari</a:t>
                      </a:r>
                      <a:r>
                        <a:rPr lang="en-US" sz="1600" dirty="0">
                          <a:latin typeface="Arial Narrow" panose="020B0606020202030204" pitchFamily="34" charset="0"/>
                        </a:rPr>
                        <a:t> H.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 Narrow" panose="020B0606020202030204" pitchFamily="34" charset="0"/>
                        </a:rPr>
                        <a:t>ICAST Conference (2021)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latin typeface="Arial Narrow" panose="020B0606020202030204" pitchFamily="34" charset="0"/>
                        </a:rPr>
                        <a:t>Semantic Learning, NLP, Similarity Matching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rial Narrow" panose="020B0606020202030204" pitchFamily="34" charset="0"/>
                        </a:rPr>
                        <a:t>Automated Evaluation of Handwritten Answer Script Using Deep Learning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Arial Narrow" panose="020B0606020202030204" pitchFamily="34" charset="0"/>
                        </a:rPr>
                        <a:t>Rahaman</a:t>
                      </a:r>
                      <a:r>
                        <a:rPr lang="en-US" sz="1600" dirty="0">
                          <a:latin typeface="Arial Narrow" panose="020B0606020202030204" pitchFamily="34" charset="0"/>
                        </a:rPr>
                        <a:t> M.A., Mahmud H.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latin typeface="Arial Narrow" panose="020B0606020202030204" pitchFamily="34" charset="0"/>
                        </a:rPr>
                        <a:t>Transactions on Machine Learning and Artificial Intelligence 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 Narrow" panose="020B0606020202030204" pitchFamily="34" charset="0"/>
                        </a:rPr>
                        <a:t>CNN, Deep Learning, OCR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r>
                        <a:rPr lang="en-GB" sz="1600">
                          <a:latin typeface="Arial Narrow" panose="020B0606020202030204" pitchFamily="34" charset="0"/>
                        </a:rPr>
                        <a:t>Towards Automated Evaluation of Handwritten Assessments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Arial Narrow" panose="020B0606020202030204" pitchFamily="34" charset="0"/>
                        </a:rPr>
                        <a:t>Rowtula</a:t>
                      </a:r>
                      <a:r>
                        <a:rPr lang="en-US" sz="1600" dirty="0">
                          <a:latin typeface="Arial Narrow" panose="020B0606020202030204" pitchFamily="34" charset="0"/>
                        </a:rPr>
                        <a:t> V., Oota S.R.,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</a:rPr>
                        <a:t>Jawahar</a:t>
                      </a:r>
                      <a:r>
                        <a:rPr lang="en-US" sz="1600" dirty="0">
                          <a:latin typeface="Arial Narrow" panose="020B0606020202030204" pitchFamily="34" charset="0"/>
                        </a:rPr>
                        <a:t> C.V.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 Narrow" panose="020B0606020202030204" pitchFamily="34" charset="0"/>
                        </a:rPr>
                        <a:t>IEEE ICDAR Conference (2019)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latin typeface="Arial Narrow" panose="020B0606020202030204" pitchFamily="34" charset="0"/>
                        </a:rPr>
                        <a:t>Document Analysis, OCR, Machine 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r>
                        <a:rPr lang="en-US" sz="1600">
                          <a:latin typeface="Arial Narrow" panose="020B0606020202030204" pitchFamily="34" charset="0"/>
                        </a:rPr>
                        <a:t>Digital Handwritten Answer Sheet Evaluation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 Narrow" panose="020B0606020202030204" pitchFamily="34" charset="0"/>
                        </a:rPr>
                        <a:t>Kulkarni M., Adhav G., Wadile K., Chavan R., Deshmukh V.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 Narrow" panose="020B0606020202030204" pitchFamily="34" charset="0"/>
                        </a:rPr>
                        <a:t>Research Publication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 Narrow" panose="020B0606020202030204" pitchFamily="34" charset="0"/>
                        </a:rPr>
                        <a:t>OCR, NLP, Similarity Scoring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6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 sz="1400" b="0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5"/>
          <p:cNvGraphicFramePr/>
          <p:nvPr>
            <p:extLst>
              <p:ext uri="{D42A27DB-BD31-4B8C-83A1-F6EECF244321}">
                <p14:modId xmlns:p14="http://schemas.microsoft.com/office/powerpoint/2010/main" val="3780936323"/>
              </p:ext>
            </p:extLst>
          </p:nvPr>
        </p:nvGraphicFramePr>
        <p:xfrm>
          <a:off x="137680" y="1176737"/>
          <a:ext cx="11985475" cy="5007945"/>
        </p:xfrm>
        <a:graphic>
          <a:graphicData uri="http://schemas.openxmlformats.org/drawingml/2006/table">
            <a:tbl>
              <a:tblPr firstRow="1" bandRow="1">
                <a:noFill/>
                <a:tableStyleId>{0A282954-5174-4F31-A0F9-3197DDE5C557}</a:tableStyleId>
              </a:tblPr>
              <a:tblGrid>
                <a:gridCol w="29759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975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9759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0577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27102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rial Narrow" panose="020B0606020202030204" pitchFamily="34" charset="0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rial Narrow" panose="020B0606020202030204" pitchFamily="34" charset="0"/>
                        </a:rPr>
                        <a:t>AUTHORS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rial Narrow" panose="020B0606020202030204" pitchFamily="34" charset="0"/>
                        </a:rPr>
                        <a:t>PUBLISHER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rial Narrow" panose="020B0606020202030204" pitchFamily="34" charset="0"/>
                        </a:rPr>
                        <a:t>TECHNOLOGY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Automated Grading of Student Answers using NLP</a:t>
                      </a:r>
                      <a:endParaRPr lang="en-IN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Arial Narrow" panose="020B0606020202030204" pitchFamily="34" charset="0"/>
                        </a:rPr>
                        <a:t>Rahul Gupta, </a:t>
                      </a:r>
                      <a:r>
                        <a:rPr lang="en-IN" sz="1600" dirty="0" err="1" smtClean="0">
                          <a:latin typeface="Arial Narrow" panose="020B0606020202030204" pitchFamily="34" charset="0"/>
                        </a:rPr>
                        <a:t>Ankit</a:t>
                      </a:r>
                      <a:r>
                        <a:rPr lang="en-IN" sz="1600" dirty="0" smtClean="0">
                          <a:latin typeface="Arial Narrow" panose="020B0606020202030204" pitchFamily="34" charset="0"/>
                        </a:rPr>
                        <a:t> Sharma </a:t>
                      </a:r>
                      <a:endParaRPr lang="en-IN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Arial Narrow" panose="020B0606020202030204" pitchFamily="34" charset="0"/>
                        </a:rPr>
                        <a:t>International Journal of Computer Applications (2019)</a:t>
                      </a:r>
                      <a:endParaRPr lang="en-IN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NLP, Machine Learning, Feature Extraction, Semantic Similarity</a:t>
                      </a:r>
                      <a:endParaRPr lang="en-GB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Text Similarity Detection using NLP Techniques</a:t>
                      </a:r>
                      <a:endParaRPr lang="en-IN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Daniel </a:t>
                      </a:r>
                      <a:r>
                        <a:rPr lang="en-GB" sz="1600" dirty="0" err="1" smtClean="0">
                          <a:latin typeface="Arial Narrow" panose="020B0606020202030204" pitchFamily="34" charset="0"/>
                        </a:rPr>
                        <a:t>Cer</a:t>
                      </a:r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, </a:t>
                      </a:r>
                      <a:r>
                        <a:rPr lang="en-GB" sz="1600" dirty="0" err="1" smtClean="0">
                          <a:latin typeface="Arial Narrow" panose="020B0606020202030204" pitchFamily="34" charset="0"/>
                        </a:rPr>
                        <a:t>Yinfei</a:t>
                      </a:r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 Yang, Sheng-</a:t>
                      </a:r>
                      <a:r>
                        <a:rPr lang="en-GB" sz="1600" dirty="0" err="1" smtClean="0">
                          <a:latin typeface="Arial Narrow" panose="020B0606020202030204" pitchFamily="34" charset="0"/>
                        </a:rPr>
                        <a:t>yi</a:t>
                      </a:r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 Kong</a:t>
                      </a:r>
                    </a:p>
                    <a:p>
                      <a:endParaRPr lang="en-IN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Google Research / ACL Publication (2018)</a:t>
                      </a:r>
                      <a:endParaRPr lang="en-GB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Sentence </a:t>
                      </a:r>
                      <a:r>
                        <a:rPr lang="en-GB" sz="1600" dirty="0" err="1" smtClean="0">
                          <a:latin typeface="Arial Narrow" panose="020B0606020202030204" pitchFamily="34" charset="0"/>
                        </a:rPr>
                        <a:t>Embeddings</a:t>
                      </a:r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, Deep Learning, Cosine Similarity</a:t>
                      </a:r>
                      <a:endParaRPr lang="en-GB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Attention Is All You Need</a:t>
                      </a:r>
                      <a:endParaRPr lang="en-GB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Arial Narrow" panose="020B0606020202030204" pitchFamily="34" charset="0"/>
                        </a:rPr>
                        <a:t>Ashish </a:t>
                      </a:r>
                      <a:r>
                        <a:rPr lang="en-IN" sz="1600" dirty="0" err="1" smtClean="0">
                          <a:latin typeface="Arial Narrow" panose="020B0606020202030204" pitchFamily="34" charset="0"/>
                        </a:rPr>
                        <a:t>Vaswani</a:t>
                      </a:r>
                      <a:r>
                        <a:rPr lang="en-IN" sz="1600" dirty="0" smtClean="0">
                          <a:latin typeface="Arial Narrow" panose="020B0606020202030204" pitchFamily="34" charset="0"/>
                        </a:rPr>
                        <a:t>, Noam </a:t>
                      </a:r>
                      <a:r>
                        <a:rPr lang="en-IN" sz="1600" dirty="0" err="1" smtClean="0">
                          <a:latin typeface="Arial Narrow" panose="020B0606020202030204" pitchFamily="34" charset="0"/>
                        </a:rPr>
                        <a:t>Shazeer</a:t>
                      </a:r>
                      <a:r>
                        <a:rPr lang="en-IN" sz="1600" dirty="0" smtClean="0">
                          <a:latin typeface="Arial Narrow" panose="020B0606020202030204" pitchFamily="34" charset="0"/>
                        </a:rPr>
                        <a:t>, </a:t>
                      </a:r>
                      <a:r>
                        <a:rPr lang="en-IN" sz="1600" dirty="0" err="1" smtClean="0">
                          <a:latin typeface="Arial Narrow" panose="020B0606020202030204" pitchFamily="34" charset="0"/>
                        </a:rPr>
                        <a:t>Niki</a:t>
                      </a:r>
                      <a:r>
                        <a:rPr lang="en-IN" sz="1600" dirty="0" smtClean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IN" sz="1600" dirty="0" err="1" smtClean="0">
                          <a:latin typeface="Arial Narrow" panose="020B0606020202030204" pitchFamily="34" charset="0"/>
                        </a:rPr>
                        <a:t>Parmar</a:t>
                      </a:r>
                      <a:endParaRPr lang="en-IN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 err="1" smtClean="0">
                          <a:latin typeface="Arial Narrow" panose="020B0606020202030204" pitchFamily="34" charset="0"/>
                        </a:rPr>
                        <a:t>NeurIPS</a:t>
                      </a:r>
                      <a:r>
                        <a:rPr lang="en-IN" sz="1600" dirty="0" smtClean="0">
                          <a:latin typeface="Arial Narrow" panose="020B0606020202030204" pitchFamily="34" charset="0"/>
                        </a:rPr>
                        <a:t> Conference (2017)</a:t>
                      </a:r>
                      <a:endParaRPr lang="en-IN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Arial Narrow" panose="020B0606020202030204" pitchFamily="34" charset="0"/>
                        </a:rPr>
                        <a:t>Transformer, Self-Attention, Deep Learning</a:t>
                      </a:r>
                      <a:endParaRPr lang="en-IN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Semantic Similarity using Word </a:t>
                      </a:r>
                      <a:r>
                        <a:rPr lang="en-GB" sz="1600" dirty="0" err="1" smtClean="0">
                          <a:latin typeface="Arial Narrow" panose="020B0606020202030204" pitchFamily="34" charset="0"/>
                        </a:rPr>
                        <a:t>Embeddings</a:t>
                      </a:r>
                      <a:endParaRPr lang="en-GB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600" dirty="0" smtClean="0">
                          <a:latin typeface="Arial Narrow" panose="020B0606020202030204" pitchFamily="34" charset="0"/>
                        </a:rPr>
                        <a:t>Tomas Mikolov, Kai Chen, Greg Corrado</a:t>
                      </a:r>
                      <a:endParaRPr lang="pt-BR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Arial Narrow" panose="020B0606020202030204" pitchFamily="34" charset="0"/>
                        </a:rPr>
                        <a:t>IEEE / Google Research (2017)</a:t>
                      </a:r>
                      <a:endParaRPr lang="en-IN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Word2Vec, Word </a:t>
                      </a:r>
                      <a:r>
                        <a:rPr lang="en-GB" sz="1600" dirty="0" err="1" smtClean="0">
                          <a:latin typeface="Arial Narrow" panose="020B0606020202030204" pitchFamily="34" charset="0"/>
                        </a:rPr>
                        <a:t>Embeddings</a:t>
                      </a:r>
                      <a:r>
                        <a:rPr lang="en-GB" sz="1600" dirty="0" smtClean="0">
                          <a:latin typeface="Arial Narrow" panose="020B0606020202030204" pitchFamily="34" charset="0"/>
                        </a:rPr>
                        <a:t>, Cosine Similarity</a:t>
                      </a:r>
                      <a:endParaRPr lang="en-GB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r>
                        <a:rPr lang="en-GB" sz="1600" b="0" dirty="0">
                          <a:latin typeface="Arial Narrow" panose="020B0606020202030204" pitchFamily="34" charset="0"/>
                        </a:rPr>
                        <a:t>Descriptive Handwritten Paper Grading System using NLP and Fuzzy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latin typeface="Arial Narrow" panose="020B0606020202030204" pitchFamily="34" charset="0"/>
                        </a:rPr>
                        <a:t>Nandwalkar</a:t>
                      </a:r>
                      <a:r>
                        <a:rPr lang="en-US" sz="1600" b="0" dirty="0">
                          <a:latin typeface="Arial Narrow" panose="020B0606020202030204" pitchFamily="34" charset="0"/>
                        </a:rPr>
                        <a:t> B., </a:t>
                      </a:r>
                      <a:r>
                        <a:rPr lang="en-US" sz="1600" b="0" dirty="0" err="1">
                          <a:latin typeface="Arial Narrow" panose="020B0606020202030204" pitchFamily="34" charset="0"/>
                        </a:rPr>
                        <a:t>Pardeshi</a:t>
                      </a:r>
                      <a:r>
                        <a:rPr lang="en-US" sz="1600" b="0" dirty="0">
                          <a:latin typeface="Arial Narrow" panose="020B0606020202030204" pitchFamily="34" charset="0"/>
                        </a:rPr>
                        <a:t> S., </a:t>
                      </a:r>
                      <a:r>
                        <a:rPr lang="en-US" sz="1600" b="0" dirty="0" err="1">
                          <a:latin typeface="Arial Narrow" panose="020B0606020202030204" pitchFamily="34" charset="0"/>
                        </a:rPr>
                        <a:t>Shahade</a:t>
                      </a:r>
                      <a:r>
                        <a:rPr lang="en-US" sz="1600" b="0" dirty="0">
                          <a:latin typeface="Arial Narrow" panose="020B0606020202030204" pitchFamily="34" charset="0"/>
                        </a:rPr>
                        <a:t> M., </a:t>
                      </a:r>
                      <a:r>
                        <a:rPr lang="en-US" sz="1600" b="0" dirty="0" err="1">
                          <a:latin typeface="Arial Narrow" panose="020B0606020202030204" pitchFamily="34" charset="0"/>
                        </a:rPr>
                        <a:t>Awate</a:t>
                      </a:r>
                      <a:r>
                        <a:rPr lang="en-US" sz="1600" b="0" dirty="0">
                          <a:latin typeface="Arial Narrow" panose="020B0606020202030204" pitchFamily="34" charset="0"/>
                        </a:rPr>
                        <a:t> 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0">
                          <a:latin typeface="Arial Narrow" panose="020B0606020202030204" pitchFamily="34" charset="0"/>
                        </a:rPr>
                        <a:t>International Journal of Performability Engineering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0" dirty="0">
                          <a:latin typeface="Arial Narrow" panose="020B0606020202030204" pitchFamily="34" charset="0"/>
                        </a:rPr>
                        <a:t>NLP, Fuzzy Logic, Feature Extraction, Grading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0029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7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-1" y="0"/>
            <a:ext cx="12345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EXISTING </a:t>
            </a:r>
            <a:r>
              <a:rPr lang="en-US" sz="4000" b="1" i="0" u="none" strike="noStrike" cap="none" dirty="0" smtClean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SYSTEM ARCHITECTURE</a:t>
            </a:r>
            <a:endParaRPr sz="4000" b="1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C9BF739-EEAC-B1DC-2F91-98333D124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006" y="884904"/>
            <a:ext cx="3175820" cy="54714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4000" b="1" dirty="0" smtClean="0">
                <a:latin typeface="Arial Narrow" panose="020B0606020202030204" pitchFamily="34" charset="0"/>
              </a:rPr>
              <a:t>PROBLEMS IDENTIFIED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40103"/>
            <a:ext cx="10515600" cy="4351338"/>
          </a:xfrm>
        </p:spPr>
        <p:txBody>
          <a:bodyPr>
            <a:noAutofit/>
          </a:bodyPr>
          <a:lstStyle/>
          <a:p>
            <a:r>
              <a:rPr lang="en-GB" sz="2600" dirty="0" smtClean="0">
                <a:latin typeface="Arial Narrow" panose="020B0606020202030204" pitchFamily="34" charset="0"/>
              </a:rPr>
              <a:t>Time consumption in manual </a:t>
            </a:r>
            <a:r>
              <a:rPr lang="en-GB" sz="2600" dirty="0" smtClean="0">
                <a:latin typeface="Arial Narrow" panose="020B0606020202030204" pitchFamily="34" charset="0"/>
              </a:rPr>
              <a:t>evaluation</a:t>
            </a:r>
          </a:p>
          <a:p>
            <a:endParaRPr lang="en-GB" sz="2600" dirty="0" smtClean="0">
              <a:latin typeface="Arial Narrow" panose="020B0606020202030204" pitchFamily="34" charset="0"/>
            </a:endParaRPr>
          </a:p>
          <a:p>
            <a:r>
              <a:rPr lang="en-GB" sz="2600" dirty="0" smtClean="0">
                <a:latin typeface="Arial Narrow" panose="020B0606020202030204" pitchFamily="34" charset="0"/>
              </a:rPr>
              <a:t>Possibility of errors in </a:t>
            </a:r>
            <a:r>
              <a:rPr lang="en-GB" sz="2600" dirty="0" smtClean="0">
                <a:latin typeface="Arial Narrow" panose="020B0606020202030204" pitchFamily="34" charset="0"/>
              </a:rPr>
              <a:t>grading</a:t>
            </a:r>
          </a:p>
          <a:p>
            <a:endParaRPr lang="en-GB" sz="2600" dirty="0" smtClean="0">
              <a:latin typeface="Arial Narrow" panose="020B0606020202030204" pitchFamily="34" charset="0"/>
            </a:endParaRPr>
          </a:p>
          <a:p>
            <a:r>
              <a:rPr lang="en-GB" sz="2600" dirty="0" smtClean="0">
                <a:latin typeface="Arial Narrow" panose="020B0606020202030204" pitchFamily="34" charset="0"/>
              </a:rPr>
              <a:t>Lack of consistency in </a:t>
            </a:r>
            <a:r>
              <a:rPr lang="en-GB" sz="2600" dirty="0" smtClean="0">
                <a:latin typeface="Arial Narrow" panose="020B0606020202030204" pitchFamily="34" charset="0"/>
              </a:rPr>
              <a:t>evaluation</a:t>
            </a:r>
          </a:p>
          <a:p>
            <a:endParaRPr lang="en-GB" sz="2600" dirty="0" smtClean="0">
              <a:latin typeface="Arial Narrow" panose="020B0606020202030204" pitchFamily="34" charset="0"/>
            </a:endParaRPr>
          </a:p>
          <a:p>
            <a:r>
              <a:rPr lang="en-GB" sz="2600" dirty="0" smtClean="0">
                <a:latin typeface="Arial Narrow" panose="020B0606020202030204" pitchFamily="34" charset="0"/>
              </a:rPr>
              <a:t>Difficulty in evaluating more number of </a:t>
            </a:r>
            <a:r>
              <a:rPr lang="en-GB" sz="2600" dirty="0" smtClean="0">
                <a:latin typeface="Arial Narrow" panose="020B0606020202030204" pitchFamily="34" charset="0"/>
              </a:rPr>
              <a:t>paper</a:t>
            </a:r>
          </a:p>
          <a:p>
            <a:endParaRPr lang="en-GB" sz="2600" dirty="0">
              <a:latin typeface="Arial Narrow" panose="020B0606020202030204" pitchFamily="34" charset="0"/>
            </a:endParaRPr>
          </a:p>
          <a:p>
            <a:r>
              <a:rPr lang="en-GB" sz="2600" dirty="0" smtClean="0">
                <a:latin typeface="Arial Narrow" panose="020B0606020202030204" pitchFamily="34" charset="0"/>
              </a:rPr>
              <a:t>Delay </a:t>
            </a:r>
            <a:r>
              <a:rPr lang="en-GB" sz="2600" dirty="0" smtClean="0">
                <a:latin typeface="Arial Narrow" panose="020B0606020202030204" pitchFamily="34" charset="0"/>
              </a:rPr>
              <a:t>in result publication</a:t>
            </a:r>
          </a:p>
          <a:p>
            <a:endParaRPr lang="en-GB" sz="2600" dirty="0" smtClean="0">
              <a:latin typeface="Arial Narrow" panose="020B0606020202030204" pitchFamily="34" charset="0"/>
            </a:endParaRPr>
          </a:p>
          <a:p>
            <a:r>
              <a:rPr lang="en-GB" sz="2600" dirty="0" smtClean="0">
                <a:latin typeface="Arial Narrow" panose="020B0606020202030204" pitchFamily="34" charset="0"/>
              </a:rPr>
              <a:t>Possibility </a:t>
            </a:r>
            <a:r>
              <a:rPr lang="en-GB" sz="2600" dirty="0" smtClean="0">
                <a:latin typeface="Arial Narrow" panose="020B0606020202030204" pitchFamily="34" charset="0"/>
              </a:rPr>
              <a:t>of Human Bias</a:t>
            </a:r>
          </a:p>
          <a:p>
            <a:endParaRPr lang="en-IN" sz="2600" dirty="0">
              <a:latin typeface="Arial Narrow" panose="020B0606020202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882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-1" y="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</a:t>
            </a:r>
            <a:r>
              <a:rPr lang="en-US" sz="4000" b="1" i="0" u="none" strike="noStrike" cap="none" dirty="0" smtClean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SYSTEM ARCHITECTURE</a:t>
            </a:r>
            <a:endParaRPr sz="4000" b="1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90" y="708000"/>
            <a:ext cx="10058400" cy="615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663687" y="2186609"/>
            <a:ext cx="467139" cy="1689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48910" y="2140286"/>
            <a:ext cx="3776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 smtClean="0">
                <a:latin typeface="Arial Rounded MT Bold" panose="020F0704030504030204" pitchFamily="34" charset="0"/>
                <a:cs typeface="Times New Roman" panose="02020603050405020304" pitchFamily="18" charset="0"/>
              </a:rPr>
              <a:t>UI</a:t>
            </a:r>
            <a:endParaRPr lang="en-US" sz="1100" b="1" dirty="0"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2"/>
          </p:nvPr>
        </p:nvSpPr>
        <p:spPr>
          <a:xfrm>
            <a:off x="246272" y="1294562"/>
            <a:ext cx="5849728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en-US" sz="3400" b="1" dirty="0"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Narrow"/>
              </a:rPr>
              <a:t>HARDWARE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Clr>
                <a:schemeClr val="dk1"/>
              </a:buClr>
              <a:buSzPts val="2800"/>
              <a:buNone/>
            </a:pPr>
            <a:endParaRPr lang="en-IN" sz="2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 Narrow"/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endParaRPr lang="en-US" sz="2600" b="1" dirty="0" smtClean="0"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  <a:sym typeface="Arial Narrow"/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r>
              <a:rPr lang="en-US" sz="2600" b="1" dirty="0" smtClean="0"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Narrow"/>
              </a:rPr>
              <a:t>Processor</a:t>
            </a:r>
            <a:r>
              <a:rPr lang="en-US" sz="2600" dirty="0"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Narrow"/>
              </a:rPr>
              <a:t>: Intel i5 / Ryzen 5 or </a:t>
            </a:r>
            <a:r>
              <a:rPr lang="en-US" sz="2600" dirty="0" smtClean="0"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Narrow"/>
              </a:rPr>
              <a:t>above</a:t>
            </a:r>
            <a:endParaRPr lang="en-US" sz="1200" dirty="0" smtClean="0"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  <a:sym typeface="Arial Narrow"/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endParaRPr lang="en-US" sz="1100" b="1" dirty="0"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  <a:sym typeface="Arial Narrow"/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r>
              <a:rPr lang="en-US" sz="2600" b="1" dirty="0"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Narrow"/>
              </a:rPr>
              <a:t>RAM: </a:t>
            </a:r>
            <a:r>
              <a:rPr lang="en-US" sz="2600" dirty="0"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Narrow"/>
              </a:rPr>
              <a:t>Minimum 8 </a:t>
            </a:r>
            <a:r>
              <a:rPr lang="en-US" sz="2600" dirty="0" smtClean="0"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Narrow"/>
              </a:rPr>
              <a:t>GB</a:t>
            </a:r>
            <a:endParaRPr lang="en-US" sz="1200" dirty="0" smtClean="0"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  <a:sym typeface="Arial Narrow"/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endParaRPr lang="en-US" sz="1100" b="1" dirty="0"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  <a:sym typeface="Arial Narrow"/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r>
              <a:rPr lang="en-US" sz="2600" b="1" dirty="0"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Narrow"/>
              </a:rPr>
              <a:t>Hard Disk: </a:t>
            </a:r>
            <a:r>
              <a:rPr lang="en-US" sz="2600" dirty="0"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Narrow"/>
              </a:rPr>
              <a:t>256 </a:t>
            </a:r>
            <a:r>
              <a:rPr lang="en-US" sz="2600" dirty="0" smtClean="0"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Narrow"/>
              </a:rPr>
              <a:t>GB</a:t>
            </a:r>
            <a:endParaRPr lang="en-US" sz="1200" dirty="0" smtClean="0"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  <a:sym typeface="Arial Narrow"/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endParaRPr lang="en-US" sz="1100" b="1" dirty="0"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  <a:sym typeface="Arial Narrow"/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r>
              <a:rPr lang="en-US" sz="2600" b="1" dirty="0"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Narrow"/>
              </a:rPr>
              <a:t>System Type: </a:t>
            </a:r>
            <a:r>
              <a:rPr lang="en-US" sz="2600" dirty="0"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Narrow"/>
              </a:rPr>
              <a:t>64-bit Architecture</a:t>
            </a:r>
            <a:endParaRPr lang="en-US" sz="2600" dirty="0"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 Narrow"/>
            </a:endParaRP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4"/>
          </p:nvPr>
        </p:nvSpPr>
        <p:spPr>
          <a:xfrm>
            <a:off x="5946710" y="1294562"/>
            <a:ext cx="5849728" cy="418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3400" b="1" dirty="0">
                <a:latin typeface="Arial Narrow"/>
                <a:ea typeface="Arial Narrow"/>
                <a:cs typeface="Arial Narrow"/>
                <a:sym typeface="Arial Narrow"/>
              </a:rPr>
              <a:t>SOFTWARE</a:t>
            </a:r>
            <a:endParaRPr sz="3400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514350" lvl="0" indent="-514350" algn="ctr">
              <a:spcBef>
                <a:spcPts val="0"/>
              </a:spcBef>
              <a:buSzPts val="2800"/>
              <a:buFont typeface="+mj-lt"/>
              <a:buAutoNum type="arabicPeriod"/>
            </a:pPr>
            <a:endParaRPr lang="en-IN" sz="26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514350" lvl="0" indent="-514350" algn="ctr">
              <a:spcBef>
                <a:spcPts val="0"/>
              </a:spcBef>
              <a:buSzPts val="2800"/>
              <a:buFont typeface="+mj-lt"/>
              <a:buAutoNum type="arabicPeriod"/>
            </a:pPr>
            <a:endParaRPr lang="en-IN" sz="26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514350" lvl="0" indent="-514350"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sz="2600" b="1" dirty="0"/>
              <a:t> </a:t>
            </a:r>
            <a:r>
              <a:rPr lang="en-IN" sz="2600" b="1" dirty="0">
                <a:latin typeface="Arial Narrow" panose="020B0606020202030204" pitchFamily="34" charset="0"/>
              </a:rPr>
              <a:t>Operating System:</a:t>
            </a:r>
            <a:r>
              <a:rPr lang="en-IN" sz="2600" dirty="0">
                <a:latin typeface="Arial Narrow" panose="020B0606020202030204" pitchFamily="34" charset="0"/>
              </a:rPr>
              <a:t> Windows / Linux</a:t>
            </a:r>
            <a:endParaRPr lang="en-IN" sz="2600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514350" lvl="0" indent="-514350"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sz="2600" b="1" dirty="0">
                <a:latin typeface="Arial Narrow" panose="020B0606020202030204" pitchFamily="34" charset="0"/>
              </a:rPr>
              <a:t> Programming Language:</a:t>
            </a:r>
            <a:r>
              <a:rPr lang="en-IN" sz="2600" dirty="0">
                <a:latin typeface="Arial Narrow" panose="020B0606020202030204" pitchFamily="34" charset="0"/>
              </a:rPr>
              <a:t> Python</a:t>
            </a:r>
            <a:endParaRPr lang="en-IN" sz="2600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514350" lvl="0" indent="-514350"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sz="2600" b="1" dirty="0">
                <a:latin typeface="Arial Narrow" panose="020B0606020202030204" pitchFamily="34" charset="0"/>
              </a:rPr>
              <a:t> Frontend:</a:t>
            </a:r>
            <a:r>
              <a:rPr lang="en-IN" sz="2600" dirty="0">
                <a:latin typeface="Arial Narrow" panose="020B0606020202030204" pitchFamily="34" charset="0"/>
              </a:rPr>
              <a:t> HTML, CSS, JavaScript</a:t>
            </a:r>
          </a:p>
          <a:p>
            <a:pPr marL="514350" lvl="0" indent="-514350"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sz="2600" b="1" dirty="0">
                <a:latin typeface="Arial Narrow" panose="020B0606020202030204" pitchFamily="34" charset="0"/>
              </a:rPr>
              <a:t> Backend:</a:t>
            </a:r>
            <a:r>
              <a:rPr lang="en-IN" sz="2600" dirty="0">
                <a:latin typeface="Arial Narrow" panose="020B0606020202030204" pitchFamily="34" charset="0"/>
              </a:rPr>
              <a:t> Flask</a:t>
            </a:r>
          </a:p>
          <a:p>
            <a:pPr marL="514350" lvl="0" indent="-514350"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sz="2600" b="1" dirty="0">
                <a:latin typeface="Arial Narrow" panose="020B0606020202030204" pitchFamily="34" charset="0"/>
              </a:rPr>
              <a:t>NLP Libraries: </a:t>
            </a:r>
            <a:r>
              <a:rPr lang="en-IN" sz="2600" dirty="0">
                <a:latin typeface="Arial Narrow" panose="020B0606020202030204" pitchFamily="34" charset="0"/>
              </a:rPr>
              <a:t>NLTK, </a:t>
            </a:r>
            <a:r>
              <a:rPr lang="en-IN" sz="2600" dirty="0" err="1">
                <a:latin typeface="Arial Narrow" panose="020B0606020202030204" pitchFamily="34" charset="0"/>
              </a:rPr>
              <a:t>spaCy</a:t>
            </a:r>
            <a:r>
              <a:rPr lang="en-IN" sz="2600" dirty="0">
                <a:latin typeface="Arial Narrow" panose="020B0606020202030204" pitchFamily="34" charset="0"/>
              </a:rPr>
              <a:t>, </a:t>
            </a:r>
            <a:r>
              <a:rPr lang="en-IN" sz="2600" dirty="0" err="1">
                <a:latin typeface="Arial Narrow" panose="020B0606020202030204" pitchFamily="34" charset="0"/>
              </a:rPr>
              <a:t>Scikit</a:t>
            </a:r>
            <a:r>
              <a:rPr lang="en-IN" sz="2600" dirty="0">
                <a:latin typeface="Arial Narrow" panose="020B0606020202030204" pitchFamily="34" charset="0"/>
              </a:rPr>
              <a:t>-learn, Sentence-Transformers</a:t>
            </a:r>
          </a:p>
          <a:p>
            <a:pPr marL="514350" lvl="0" indent="-514350"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sz="2600" b="1" dirty="0">
                <a:latin typeface="Arial Narrow" panose="020B0606020202030204" pitchFamily="34" charset="0"/>
              </a:rPr>
              <a:t> Database:</a:t>
            </a:r>
            <a:r>
              <a:rPr lang="en-IN" sz="2600" dirty="0">
                <a:latin typeface="Arial Narrow" panose="020B0606020202030204" pitchFamily="34" charset="0"/>
              </a:rPr>
              <a:t> MySQL / SQLite</a:t>
            </a:r>
          </a:p>
          <a:p>
            <a:pPr marL="514350" lvl="0" indent="-514350"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sz="2600" b="1" dirty="0">
                <a:latin typeface="Arial Narrow" panose="020B0606020202030204" pitchFamily="34" charset="0"/>
              </a:rPr>
              <a:t> IDE:</a:t>
            </a:r>
            <a:r>
              <a:rPr lang="en-IN" sz="2600" dirty="0">
                <a:latin typeface="Arial Narrow" panose="020B0606020202030204" pitchFamily="34" charset="0"/>
              </a:rPr>
              <a:t> VS Code / PyCharm</a:t>
            </a:r>
            <a:endParaRPr lang="en-IN" sz="2600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sz="2600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0" y="62437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9"/>
          <p:cNvSpPr txBox="1">
            <a:spLocks noGrp="1"/>
          </p:cNvSpPr>
          <p:nvPr>
            <p:ph type="body" idx="1"/>
          </p:nvPr>
        </p:nvSpPr>
        <p:spPr>
          <a:xfrm>
            <a:off x="967673" y="148712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indent="-457200">
              <a:spcBef>
                <a:spcPts val="0"/>
              </a:spcBef>
              <a:buClrTx/>
              <a:buSzPts val="2800"/>
            </a:pPr>
            <a:r>
              <a:rPr lang="en-IN" dirty="0">
                <a:latin typeface="Arial Narrow" panose="020B0606020202030204" pitchFamily="34" charset="0"/>
              </a:rPr>
              <a:t>User Interface </a:t>
            </a:r>
            <a:r>
              <a:rPr lang="en-IN" dirty="0" smtClean="0">
                <a:latin typeface="Arial Narrow" panose="020B0606020202030204" pitchFamily="34" charset="0"/>
              </a:rPr>
              <a:t>Module</a:t>
            </a:r>
          </a:p>
          <a:p>
            <a:pPr indent="-457200">
              <a:spcBef>
                <a:spcPts val="0"/>
              </a:spcBef>
              <a:buClrTx/>
              <a:buSzPts val="2800"/>
            </a:pP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indent="-457200">
              <a:buClrTx/>
              <a:buSzPts val="2800"/>
            </a:pPr>
            <a:r>
              <a:rPr lang="en-IN" dirty="0">
                <a:latin typeface="Arial Narrow" panose="020B0606020202030204" pitchFamily="34" charset="0"/>
              </a:rPr>
              <a:t>Text </a:t>
            </a:r>
            <a:r>
              <a:rPr lang="en-IN" dirty="0" smtClean="0">
                <a:latin typeface="Arial Narrow" panose="020B0606020202030204" pitchFamily="34" charset="0"/>
              </a:rPr>
              <a:t>Pre-processing</a:t>
            </a:r>
            <a:r>
              <a:rPr lang="en-IN" dirty="0" smtClean="0">
                <a:latin typeface="Arial Narrow" panose="020B0606020202030204" pitchFamily="34" charset="0"/>
              </a:rPr>
              <a:t> and Representa</a:t>
            </a:r>
            <a:r>
              <a:rPr lang="en-IN" dirty="0" smtClean="0">
                <a:latin typeface="Arial Narrow" panose="020B0606020202030204" pitchFamily="34" charset="0"/>
              </a:rPr>
              <a:t>tion </a:t>
            </a:r>
            <a:r>
              <a:rPr lang="en-IN" dirty="0" smtClean="0">
                <a:latin typeface="Arial Narrow" panose="020B0606020202030204" pitchFamily="34" charset="0"/>
              </a:rPr>
              <a:t>Module</a:t>
            </a:r>
          </a:p>
          <a:p>
            <a:pPr indent="-457200">
              <a:buClrTx/>
              <a:buSzPts val="2800"/>
            </a:pP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indent="-457200">
              <a:buClrTx/>
              <a:buSzPts val="2800"/>
            </a:pPr>
            <a:r>
              <a:rPr lang="en-IN" dirty="0">
                <a:latin typeface="Arial Narrow" panose="020B0606020202030204" pitchFamily="34" charset="0"/>
              </a:rPr>
              <a:t>Semantic Similarity Evaluation </a:t>
            </a:r>
            <a:r>
              <a:rPr lang="en-IN" dirty="0" smtClean="0">
                <a:latin typeface="Arial Narrow" panose="020B0606020202030204" pitchFamily="34" charset="0"/>
              </a:rPr>
              <a:t>Module</a:t>
            </a:r>
          </a:p>
          <a:p>
            <a:pPr indent="-457200">
              <a:buClrTx/>
              <a:buSzPts val="2800"/>
            </a:pPr>
            <a:endParaRPr lang="en-GB" dirty="0" smtClean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indent="-457200">
              <a:buClrTx/>
              <a:buSzPts val="2800"/>
            </a:pPr>
            <a:r>
              <a:rPr lang="en-US" dirty="0" smtClean="0">
                <a:latin typeface="Arial Narrow" panose="020B0606020202030204" pitchFamily="34" charset="0"/>
              </a:rPr>
              <a:t>Scoring </a:t>
            </a:r>
            <a:r>
              <a:rPr lang="en-US" dirty="0">
                <a:latin typeface="Arial Narrow" panose="020B0606020202030204" pitchFamily="34" charset="0"/>
              </a:rPr>
              <a:t>and </a:t>
            </a:r>
            <a:r>
              <a:rPr lang="en-US" dirty="0" smtClean="0">
                <a:latin typeface="Arial Narrow" panose="020B0606020202030204" pitchFamily="34" charset="0"/>
              </a:rPr>
              <a:t>Feedback</a:t>
            </a:r>
            <a:r>
              <a:rPr lang="en-US" dirty="0" smtClean="0">
                <a:latin typeface="Arial Narrow" panose="020B0606020202030204" pitchFamily="34" charset="0"/>
              </a:rPr>
              <a:t> Module</a:t>
            </a:r>
          </a:p>
          <a:p>
            <a:pPr indent="-457200">
              <a:buClrTx/>
              <a:buSzPts val="2800"/>
            </a:pP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-457200">
              <a:buClrTx/>
              <a:buSzPts val="2800"/>
            </a:pPr>
            <a:r>
              <a:rPr lang="en-US" dirty="0" smtClean="0">
                <a:latin typeface="Arial Narrow"/>
                <a:ea typeface="Arial Narrow"/>
                <a:cs typeface="Arial Narrow"/>
                <a:sym typeface="Arial Narrow"/>
              </a:rPr>
              <a:t>Data Storage and Result Management System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11</a:t>
            </a:fld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0" y="114637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1. USER INTERFACE MODULE 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" name="Google Shape;154;p10"/>
          <p:cNvSpPr txBox="1">
            <a:spLocks noGrp="1"/>
          </p:cNvSpPr>
          <p:nvPr>
            <p:ph type="body" idx="1"/>
          </p:nvPr>
        </p:nvSpPr>
        <p:spPr>
          <a:xfrm>
            <a:off x="823018" y="1140977"/>
            <a:ext cx="6135149" cy="4931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r>
              <a:rPr lang="en-GB" sz="3300" dirty="0">
                <a:latin typeface="Arial Narrow" panose="020B0606020202030204" pitchFamily="34" charset="0"/>
              </a:rPr>
              <a:t>Provides a web-based interface for teachers. </a:t>
            </a:r>
            <a:endParaRPr lang="en-GB" sz="3300" dirty="0" smtClean="0">
              <a:latin typeface="Arial Narrow" panose="020B0606020202030204" pitchFamily="34" charset="0"/>
            </a:endParaRPr>
          </a:p>
          <a:p>
            <a:endParaRPr lang="en-GB" sz="3300" dirty="0" smtClean="0">
              <a:latin typeface="Arial Narrow" panose="020B0606020202030204" pitchFamily="34" charset="0"/>
            </a:endParaRPr>
          </a:p>
          <a:p>
            <a:r>
              <a:rPr lang="en-GB" sz="3300" dirty="0" smtClean="0">
                <a:latin typeface="Arial Narrow" panose="020B0606020202030204" pitchFamily="34" charset="0"/>
              </a:rPr>
              <a:t>Allows </a:t>
            </a:r>
            <a:r>
              <a:rPr lang="en-GB" sz="3300" dirty="0">
                <a:latin typeface="Arial Narrow" panose="020B0606020202030204" pitchFamily="34" charset="0"/>
              </a:rPr>
              <a:t>entry of student details and subject selection. </a:t>
            </a:r>
            <a:endParaRPr lang="en-GB" sz="3300" dirty="0" smtClean="0">
              <a:latin typeface="Arial Narrow" panose="020B0606020202030204" pitchFamily="34" charset="0"/>
            </a:endParaRPr>
          </a:p>
          <a:p>
            <a:endParaRPr lang="en-GB" sz="3300" dirty="0">
              <a:latin typeface="Arial Narrow" panose="020B0606020202030204" pitchFamily="34" charset="0"/>
            </a:endParaRPr>
          </a:p>
          <a:p>
            <a:r>
              <a:rPr lang="en-GB" sz="3300" dirty="0">
                <a:latin typeface="Arial Narrow" panose="020B0606020202030204" pitchFamily="34" charset="0"/>
              </a:rPr>
              <a:t>Enables uploading of student answers and model answer key. </a:t>
            </a:r>
            <a:endParaRPr lang="en-GB" sz="3300" dirty="0" smtClean="0">
              <a:latin typeface="Arial Narrow" panose="020B0606020202030204" pitchFamily="34" charset="0"/>
            </a:endParaRPr>
          </a:p>
          <a:p>
            <a:endParaRPr lang="en-GB" sz="3300" dirty="0">
              <a:latin typeface="Arial Narrow" panose="020B0606020202030204" pitchFamily="34" charset="0"/>
            </a:endParaRPr>
          </a:p>
          <a:p>
            <a:r>
              <a:rPr lang="en-GB" sz="3300" dirty="0">
                <a:latin typeface="Arial Narrow" panose="020B0606020202030204" pitchFamily="34" charset="0"/>
              </a:rPr>
              <a:t>Displays evaluation results in a clear and structured format. </a:t>
            </a:r>
            <a:endParaRPr lang="en-GB" sz="3300" dirty="0" smtClean="0">
              <a:latin typeface="Arial Narrow" panose="020B0606020202030204" pitchFamily="34" charset="0"/>
            </a:endParaRPr>
          </a:p>
          <a:p>
            <a:endParaRPr lang="en-GB" sz="3300" dirty="0">
              <a:latin typeface="Arial Narrow" panose="020B0606020202030204" pitchFamily="34" charset="0"/>
            </a:endParaRPr>
          </a:p>
          <a:p>
            <a:r>
              <a:rPr lang="en-GB" sz="3300" dirty="0">
                <a:latin typeface="Arial Narrow" panose="020B0606020202030204" pitchFamily="34" charset="0"/>
              </a:rPr>
              <a:t>Ensures a simple, user-friendly, and efficient interaction. </a:t>
            </a:r>
          </a:p>
          <a:p>
            <a:pPr marL="0" lvl="0" indent="0" algn="just"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12</a:t>
            </a:fld>
            <a:endParaRPr b="1" dirty="0">
              <a:solidFill>
                <a:schemeClr val="dk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8" t="9268" r="44920" b="5004"/>
          <a:stretch/>
        </p:blipFill>
        <p:spPr>
          <a:xfrm>
            <a:off x="7614605" y="776835"/>
            <a:ext cx="4240227" cy="55242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9246" r="82569" b="85863"/>
          <a:stretch/>
        </p:blipFill>
        <p:spPr>
          <a:xfrm>
            <a:off x="7614605" y="776835"/>
            <a:ext cx="1753275" cy="3074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body" idx="1"/>
          </p:nvPr>
        </p:nvSpPr>
        <p:spPr>
          <a:xfrm>
            <a:off x="427148" y="1336203"/>
            <a:ext cx="7057986" cy="5202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algn="just"/>
            <a:r>
              <a:rPr lang="en-GB" dirty="0">
                <a:latin typeface="Arial Narrow" panose="020B0606020202030204" pitchFamily="34" charset="0"/>
              </a:rPr>
              <a:t>Cleans and normalizes input text for accurate processing. </a:t>
            </a:r>
            <a:endParaRPr lang="en-GB" dirty="0" smtClean="0">
              <a:latin typeface="Arial Narrow" panose="020B0606020202030204" pitchFamily="34" charset="0"/>
            </a:endParaRPr>
          </a:p>
          <a:p>
            <a:pPr algn="just"/>
            <a:endParaRPr lang="en-GB" dirty="0">
              <a:latin typeface="Arial Narrow" panose="020B0606020202030204" pitchFamily="34" charset="0"/>
            </a:endParaRPr>
          </a:p>
          <a:p>
            <a:pPr algn="just"/>
            <a:r>
              <a:rPr lang="en-GB" dirty="0">
                <a:latin typeface="Arial Narrow" panose="020B0606020202030204" pitchFamily="34" charset="0"/>
              </a:rPr>
              <a:t>Performs tokenization, </a:t>
            </a:r>
            <a:r>
              <a:rPr lang="en-GB" dirty="0" err="1">
                <a:latin typeface="Arial Narrow" panose="020B0606020202030204" pitchFamily="34" charset="0"/>
              </a:rPr>
              <a:t>stopword</a:t>
            </a:r>
            <a:r>
              <a:rPr lang="en-GB" dirty="0">
                <a:latin typeface="Arial Narrow" panose="020B0606020202030204" pitchFamily="34" charset="0"/>
              </a:rPr>
              <a:t> removal, and stemming. </a:t>
            </a:r>
            <a:endParaRPr lang="en-GB" dirty="0" smtClean="0">
              <a:latin typeface="Arial Narrow" panose="020B0606020202030204" pitchFamily="34" charset="0"/>
            </a:endParaRPr>
          </a:p>
          <a:p>
            <a:pPr algn="just"/>
            <a:endParaRPr lang="en-GB" dirty="0">
              <a:latin typeface="Arial Narrow" panose="020B0606020202030204" pitchFamily="34" charset="0"/>
            </a:endParaRPr>
          </a:p>
          <a:p>
            <a:pPr algn="just"/>
            <a:r>
              <a:rPr lang="en-GB" dirty="0">
                <a:latin typeface="Arial Narrow" panose="020B0606020202030204" pitchFamily="34" charset="0"/>
              </a:rPr>
              <a:t>Converts text into numerical representations using </a:t>
            </a:r>
            <a:endParaRPr lang="en-GB" dirty="0" smtClean="0">
              <a:latin typeface="Arial Narrow" panose="020B0606020202030204" pitchFamily="34" charset="0"/>
            </a:endParaRPr>
          </a:p>
          <a:p>
            <a:pPr marL="114300" indent="0" algn="just">
              <a:buNone/>
            </a:pPr>
            <a:r>
              <a:rPr lang="en-GB" dirty="0" smtClean="0">
                <a:latin typeface="Arial Narrow" panose="020B0606020202030204" pitchFamily="34" charset="0"/>
              </a:rPr>
              <a:t>     TF-IDF</a:t>
            </a:r>
            <a:r>
              <a:rPr lang="en-GB" dirty="0">
                <a:latin typeface="Arial Narrow" panose="020B0606020202030204" pitchFamily="34" charset="0"/>
              </a:rPr>
              <a:t>. </a:t>
            </a:r>
            <a:endParaRPr lang="en-GB" dirty="0" smtClean="0">
              <a:latin typeface="Arial Narrow" panose="020B0606020202030204" pitchFamily="34" charset="0"/>
            </a:endParaRPr>
          </a:p>
          <a:p>
            <a:pPr algn="just"/>
            <a:endParaRPr lang="en-GB" dirty="0">
              <a:latin typeface="Arial Narrow" panose="020B0606020202030204" pitchFamily="34" charset="0"/>
            </a:endParaRPr>
          </a:p>
          <a:p>
            <a:pPr algn="just"/>
            <a:r>
              <a:rPr lang="en-GB" dirty="0">
                <a:latin typeface="Arial Narrow" panose="020B0606020202030204" pitchFamily="34" charset="0"/>
              </a:rPr>
              <a:t>Extracts meaningful features for semantic evaluation. </a:t>
            </a:r>
            <a:endParaRPr lang="en-GB" dirty="0" smtClean="0">
              <a:latin typeface="Arial Narrow" panose="020B0606020202030204" pitchFamily="34" charset="0"/>
            </a:endParaRPr>
          </a:p>
          <a:p>
            <a:pPr algn="just"/>
            <a:endParaRPr lang="en-GB" dirty="0">
              <a:latin typeface="Arial Narrow" panose="020B0606020202030204" pitchFamily="34" charset="0"/>
            </a:endParaRPr>
          </a:p>
          <a:p>
            <a:pPr algn="just"/>
            <a:r>
              <a:rPr lang="en-GB" dirty="0" smtClean="0">
                <a:latin typeface="Arial Narrow" panose="020B0606020202030204" pitchFamily="34" charset="0"/>
              </a:rPr>
              <a:t>Prepares </a:t>
            </a:r>
            <a:r>
              <a:rPr lang="en-GB" dirty="0">
                <a:latin typeface="Arial Narrow" panose="020B0606020202030204" pitchFamily="34" charset="0"/>
              </a:rPr>
              <a:t>data for similarity computation.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1" name="Google Shape;1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13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62" name="Google Shape;162;p11"/>
          <p:cNvSpPr txBox="1">
            <a:spLocks noGrp="1"/>
          </p:cNvSpPr>
          <p:nvPr>
            <p:ph type="title"/>
          </p:nvPr>
        </p:nvSpPr>
        <p:spPr>
          <a:xfrm>
            <a:off x="0" y="353001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2. TEXT </a:t>
            </a:r>
            <a:r>
              <a:rPr lang="en-US" b="1" dirty="0" smtClean="0">
                <a:latin typeface="Arial Narrow"/>
                <a:ea typeface="Arial Narrow"/>
                <a:cs typeface="Arial Narrow"/>
                <a:sym typeface="Arial Narrow"/>
              </a:rPr>
              <a:t>PRE-PROCESSING </a:t>
            </a:r>
            <a:r>
              <a:rPr lang="en-US" b="1" dirty="0" smtClean="0">
                <a:latin typeface="Arial Narrow"/>
                <a:ea typeface="Arial Narrow"/>
                <a:cs typeface="Arial Narrow"/>
                <a:sym typeface="Arial Narrow"/>
              </a:rPr>
              <a:t>AND REPRESENTATION </a:t>
            </a:r>
            <a:r>
              <a:rPr lang="en-US" b="1" dirty="0" smtClean="0">
                <a:latin typeface="Arial Narrow"/>
                <a:ea typeface="Arial Narrow"/>
                <a:cs typeface="Arial Narrow"/>
                <a:sym typeface="Arial Narrow"/>
              </a:rPr>
              <a:t>MODULE 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47" t="33725" r="25368" b="30233"/>
          <a:stretch/>
        </p:blipFill>
        <p:spPr>
          <a:xfrm>
            <a:off x="7962562" y="720192"/>
            <a:ext cx="3859901" cy="419167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6" t="30416" r="7056" b="34676"/>
          <a:stretch/>
        </p:blipFill>
        <p:spPr>
          <a:xfrm>
            <a:off x="7485134" y="4816813"/>
            <a:ext cx="4717657" cy="16345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body" idx="1"/>
          </p:nvPr>
        </p:nvSpPr>
        <p:spPr>
          <a:xfrm>
            <a:off x="325530" y="1184547"/>
            <a:ext cx="6528424" cy="5030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algn="just"/>
            <a:r>
              <a:rPr lang="en-GB" dirty="0">
                <a:latin typeface="Arial Narrow" panose="020B0606020202030204" pitchFamily="34" charset="0"/>
              </a:rPr>
              <a:t>Compares student answers with the model answer key. </a:t>
            </a:r>
            <a:endParaRPr lang="en-GB" dirty="0" smtClean="0">
              <a:latin typeface="Arial Narrow" panose="020B0606020202030204" pitchFamily="34" charset="0"/>
            </a:endParaRPr>
          </a:p>
          <a:p>
            <a:pPr algn="just"/>
            <a:endParaRPr lang="en-GB" dirty="0">
              <a:latin typeface="Arial Narrow" panose="020B0606020202030204" pitchFamily="34" charset="0"/>
            </a:endParaRPr>
          </a:p>
          <a:p>
            <a:pPr algn="just"/>
            <a:r>
              <a:rPr lang="en-GB" dirty="0">
                <a:latin typeface="Arial Narrow" panose="020B0606020202030204" pitchFamily="34" charset="0"/>
              </a:rPr>
              <a:t>Uses cosine similarity to measure semantic similarity between answers. </a:t>
            </a:r>
            <a:endParaRPr lang="en-GB" dirty="0" smtClean="0">
              <a:latin typeface="Arial Narrow" panose="020B0606020202030204" pitchFamily="34" charset="0"/>
            </a:endParaRPr>
          </a:p>
          <a:p>
            <a:pPr algn="just"/>
            <a:endParaRPr lang="en-GB" dirty="0">
              <a:latin typeface="Arial Narrow" panose="020B0606020202030204" pitchFamily="34" charset="0"/>
            </a:endParaRPr>
          </a:p>
          <a:p>
            <a:pPr algn="just"/>
            <a:r>
              <a:rPr lang="en-GB" dirty="0">
                <a:latin typeface="Arial Narrow" panose="020B0606020202030204" pitchFamily="34" charset="0"/>
              </a:rPr>
              <a:t>Evaluates the meaning of the text rather than exact word matching. </a:t>
            </a:r>
            <a:endParaRPr lang="en-GB" dirty="0" smtClean="0">
              <a:latin typeface="Arial Narrow" panose="020B0606020202030204" pitchFamily="34" charset="0"/>
            </a:endParaRPr>
          </a:p>
          <a:p>
            <a:pPr algn="just"/>
            <a:endParaRPr lang="en-GB" dirty="0">
              <a:latin typeface="Arial Narrow" panose="020B0606020202030204" pitchFamily="34" charset="0"/>
            </a:endParaRPr>
          </a:p>
          <a:p>
            <a:pPr algn="just"/>
            <a:r>
              <a:rPr lang="en-GB" dirty="0">
                <a:latin typeface="Arial Narrow" panose="020B0606020202030204" pitchFamily="34" charset="0"/>
              </a:rPr>
              <a:t>Generates similarity scores for each answer. </a:t>
            </a:r>
            <a:endParaRPr lang="en-GB" dirty="0" smtClean="0">
              <a:latin typeface="Arial Narrow" panose="020B0606020202030204" pitchFamily="34" charset="0"/>
            </a:endParaRPr>
          </a:p>
          <a:p>
            <a:pPr algn="just"/>
            <a:endParaRPr lang="en-GB" dirty="0">
              <a:latin typeface="Arial Narrow" panose="020B0606020202030204" pitchFamily="34" charset="0"/>
            </a:endParaRPr>
          </a:p>
          <a:p>
            <a:pPr algn="just"/>
            <a:r>
              <a:rPr lang="en-GB" dirty="0" smtClean="0">
                <a:latin typeface="Arial Narrow" panose="020B0606020202030204" pitchFamily="34" charset="0"/>
              </a:rPr>
              <a:t>Ensures </a:t>
            </a:r>
            <a:r>
              <a:rPr lang="en-GB" dirty="0">
                <a:latin typeface="Arial Narrow" panose="020B0606020202030204" pitchFamily="34" charset="0"/>
              </a:rPr>
              <a:t>accurate and consistent evaluation of responses. </a:t>
            </a:r>
          </a:p>
          <a:p>
            <a:pPr indent="-457200" algn="just">
              <a:spcBef>
                <a:spcPts val="0"/>
              </a:spcBef>
              <a:buSzPts val="2800"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5" name="Google Shape;1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14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0" y="136525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r>
              <a:rPr lang="en-US" b="1" dirty="0" smtClean="0">
                <a:latin typeface="Arial Narrow"/>
                <a:ea typeface="Arial Narrow"/>
                <a:cs typeface="Arial Narrow"/>
                <a:sym typeface="Arial Narrow"/>
              </a:rPr>
              <a:t>. </a:t>
            </a: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SEMANTIC SIMILARITY EVALUATION MODULE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43" t="8664" r="19227" b="7125"/>
          <a:stretch/>
        </p:blipFill>
        <p:spPr>
          <a:xfrm>
            <a:off x="6991519" y="962951"/>
            <a:ext cx="5200481" cy="525173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15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83" name="Google Shape;183;p14"/>
          <p:cNvSpPr txBox="1">
            <a:spLocks noGrp="1"/>
          </p:cNvSpPr>
          <p:nvPr>
            <p:ph type="title"/>
          </p:nvPr>
        </p:nvSpPr>
        <p:spPr>
          <a:xfrm>
            <a:off x="0" y="157316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r>
              <a:rPr lang="en-US" b="1" dirty="0" smtClean="0">
                <a:latin typeface="Arial Narrow"/>
                <a:ea typeface="Arial Narrow"/>
                <a:cs typeface="Arial Narrow"/>
                <a:sym typeface="Arial Narrow"/>
              </a:rPr>
              <a:t>. </a:t>
            </a: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SCORING AND </a:t>
            </a:r>
            <a:r>
              <a:rPr lang="en-US" b="1" dirty="0" smtClean="0">
                <a:latin typeface="Arial Narrow"/>
                <a:ea typeface="Arial Narrow"/>
                <a:cs typeface="Arial Narrow"/>
                <a:sym typeface="Arial Narrow"/>
              </a:rPr>
              <a:t>FEEDBACK</a:t>
            </a:r>
            <a:r>
              <a:rPr lang="en-US" b="1" dirty="0" smtClean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MODULE  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1163" y="797139"/>
            <a:ext cx="6137135" cy="5970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Assigns marks based on the computed similarity score.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Calculates total marks and percentage for evaluation.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Classifies answers as correct, partially correct, or incorrect.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Provides feedback highlighting missing or weak concepts.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Displays results in a clear and structured format for easy understanding.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76" t="33339" r="26495" b="6935"/>
          <a:stretch/>
        </p:blipFill>
        <p:spPr>
          <a:xfrm>
            <a:off x="7033327" y="1424198"/>
            <a:ext cx="4830945" cy="49280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16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83" name="Google Shape;183;p14"/>
          <p:cNvSpPr txBox="1">
            <a:spLocks noGrp="1"/>
          </p:cNvSpPr>
          <p:nvPr>
            <p:ph type="title"/>
          </p:nvPr>
        </p:nvSpPr>
        <p:spPr>
          <a:xfrm>
            <a:off x="0" y="157316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r>
              <a:rPr lang="en-US" b="1" dirty="0" smtClean="0">
                <a:latin typeface="Arial Narrow"/>
                <a:ea typeface="Arial Narrow"/>
                <a:cs typeface="Arial Narrow"/>
                <a:sym typeface="Arial Narrow"/>
              </a:rPr>
              <a:t>. DATA STORAGE AND RESULT MANAGEMENT </a:t>
            </a: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MODULE  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1758" y="896611"/>
            <a:ext cx="5837730" cy="5872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GB" sz="2600" dirty="0">
                <a:latin typeface="Arial Narrow" panose="020B0606020202030204" pitchFamily="34" charset="0"/>
              </a:rPr>
              <a:t>Stores evaluation results in a structured format. </a:t>
            </a:r>
            <a:endParaRPr lang="en-GB" sz="2600" dirty="0" smtClean="0">
              <a:latin typeface="Arial Narrow" panose="020B0606020202030204" pitchFamily="34" charset="0"/>
            </a:endParaRPr>
          </a:p>
          <a:p>
            <a:pPr algn="just"/>
            <a:endParaRPr lang="en-GB" sz="1800" dirty="0">
              <a:latin typeface="Arial Narrow" panose="020B0606020202030204" pitchFamily="34" charset="0"/>
            </a:endParaRPr>
          </a:p>
          <a:p>
            <a:pPr algn="just"/>
            <a:r>
              <a:rPr lang="en-GB" sz="2600" dirty="0">
                <a:latin typeface="Arial Narrow" panose="020B0606020202030204" pitchFamily="34" charset="0"/>
              </a:rPr>
              <a:t>Saves student scores, total marks, and percentage. </a:t>
            </a:r>
            <a:endParaRPr lang="en-GB" sz="2600" dirty="0" smtClean="0">
              <a:latin typeface="Arial Narrow" panose="020B0606020202030204" pitchFamily="34" charset="0"/>
            </a:endParaRPr>
          </a:p>
          <a:p>
            <a:pPr algn="just"/>
            <a:endParaRPr lang="en-GB" sz="1800" dirty="0">
              <a:latin typeface="Arial Narrow" panose="020B0606020202030204" pitchFamily="34" charset="0"/>
            </a:endParaRPr>
          </a:p>
          <a:p>
            <a:pPr algn="just"/>
            <a:r>
              <a:rPr lang="en-GB" sz="2600" dirty="0">
                <a:latin typeface="Arial Narrow" panose="020B0606020202030204" pitchFamily="34" charset="0"/>
              </a:rPr>
              <a:t>Maintains question-wise evaluation details. </a:t>
            </a:r>
            <a:endParaRPr lang="en-GB" sz="2600" dirty="0" smtClean="0">
              <a:latin typeface="Arial Narrow" panose="020B0606020202030204" pitchFamily="34" charset="0"/>
            </a:endParaRPr>
          </a:p>
          <a:p>
            <a:pPr algn="just"/>
            <a:endParaRPr lang="en-GB" sz="1800" dirty="0">
              <a:latin typeface="Arial Narrow" panose="020B0606020202030204" pitchFamily="34" charset="0"/>
            </a:endParaRPr>
          </a:p>
          <a:p>
            <a:pPr algn="just"/>
            <a:r>
              <a:rPr lang="en-GB" sz="2600" dirty="0">
                <a:latin typeface="Arial Narrow" panose="020B0606020202030204" pitchFamily="34" charset="0"/>
              </a:rPr>
              <a:t>Generates downloadable reports </a:t>
            </a:r>
            <a:endParaRPr lang="en-GB" sz="2600" dirty="0" smtClean="0">
              <a:latin typeface="Arial Narrow" panose="020B0606020202030204" pitchFamily="34" charset="0"/>
            </a:endParaRPr>
          </a:p>
          <a:p>
            <a:pPr marL="114300" indent="0" algn="just">
              <a:buNone/>
            </a:pPr>
            <a:r>
              <a:rPr lang="en-GB" sz="2600" dirty="0">
                <a:latin typeface="Arial Narrow" panose="020B0606020202030204" pitchFamily="34" charset="0"/>
              </a:rPr>
              <a:t> </a:t>
            </a:r>
            <a:r>
              <a:rPr lang="en-GB" sz="2600" dirty="0" smtClean="0">
                <a:latin typeface="Arial Narrow" panose="020B0606020202030204" pitchFamily="34" charset="0"/>
              </a:rPr>
              <a:t>    (</a:t>
            </a:r>
            <a:r>
              <a:rPr lang="en-GB" sz="2600" dirty="0">
                <a:latin typeface="Arial Narrow" panose="020B0606020202030204" pitchFamily="34" charset="0"/>
              </a:rPr>
              <a:t>Excel format). </a:t>
            </a:r>
            <a:endParaRPr lang="en-GB" sz="2600" dirty="0" smtClean="0">
              <a:latin typeface="Arial Narrow" panose="020B0606020202030204" pitchFamily="34" charset="0"/>
            </a:endParaRPr>
          </a:p>
          <a:p>
            <a:pPr algn="just"/>
            <a:endParaRPr lang="en-GB" sz="1800" dirty="0">
              <a:latin typeface="Arial Narrow" panose="020B0606020202030204" pitchFamily="34" charset="0"/>
            </a:endParaRPr>
          </a:p>
          <a:p>
            <a:pPr algn="just"/>
            <a:r>
              <a:rPr lang="en-GB" sz="2600" dirty="0">
                <a:latin typeface="Arial Narrow" panose="020B0606020202030204" pitchFamily="34" charset="0"/>
              </a:rPr>
              <a:t>Enables easy access, analysis, and record management.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81"/>
          <a:stretch/>
        </p:blipFill>
        <p:spPr>
          <a:xfrm>
            <a:off x="6198499" y="1197622"/>
            <a:ext cx="5993501" cy="474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688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5" name="Google Shape;195;p16"/>
          <p:cNvSpPr txBox="1">
            <a:spLocks noGrp="1"/>
          </p:cNvSpPr>
          <p:nvPr>
            <p:ph type="body" idx="1"/>
          </p:nvPr>
        </p:nvSpPr>
        <p:spPr>
          <a:xfrm>
            <a:off x="651169" y="1399921"/>
            <a:ext cx="10977085" cy="4790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indent="0" algn="just">
              <a:spcBef>
                <a:spcPts val="0"/>
              </a:spcBef>
              <a:buSzPts val="2800"/>
              <a:buNone/>
            </a:pPr>
            <a:r>
              <a:rPr lang="en-US" dirty="0">
                <a:latin typeface="Arial Narrow" panose="020B0606020202030204" pitchFamily="34" charset="0"/>
              </a:rPr>
              <a:t>The proposed system </a:t>
            </a:r>
            <a:r>
              <a:rPr lang="en-US" dirty="0" smtClean="0">
                <a:latin typeface="Arial Narrow" panose="020B0606020202030204" pitchFamily="34" charset="0"/>
              </a:rPr>
              <a:t>successfully,</a:t>
            </a:r>
          </a:p>
          <a:p>
            <a:pPr marL="0" indent="0" algn="just">
              <a:spcBef>
                <a:spcPts val="0"/>
              </a:spcBef>
              <a:buSzPts val="2800"/>
              <a:buNone/>
            </a:pPr>
            <a:endParaRPr lang="en-US" dirty="0" smtClean="0">
              <a:latin typeface="Arial Narrow" panose="020B0606020202030204" pitchFamily="34" charset="0"/>
            </a:endParaRPr>
          </a:p>
          <a:p>
            <a:pPr lvl="1"/>
            <a:r>
              <a:rPr lang="en-GB" sz="2600" dirty="0">
                <a:latin typeface="Arial Narrow" panose="020B0606020202030204" pitchFamily="34" charset="0"/>
              </a:rPr>
              <a:t>Automates descriptive answer evaluation using NLP. </a:t>
            </a:r>
            <a:endParaRPr lang="en-GB" sz="2600" dirty="0" smtClean="0">
              <a:latin typeface="Arial Narrow" panose="020B0606020202030204" pitchFamily="34" charset="0"/>
            </a:endParaRPr>
          </a:p>
          <a:p>
            <a:endParaRPr lang="en-GB" sz="2600" dirty="0">
              <a:latin typeface="Arial Narrow" panose="020B0606020202030204" pitchFamily="34" charset="0"/>
            </a:endParaRPr>
          </a:p>
          <a:p>
            <a:pPr lvl="1"/>
            <a:r>
              <a:rPr lang="en-GB" sz="2600" dirty="0">
                <a:latin typeface="Arial Narrow" panose="020B0606020202030204" pitchFamily="34" charset="0"/>
              </a:rPr>
              <a:t>Ensures fair, consistent, and efficient grading. </a:t>
            </a:r>
            <a:endParaRPr lang="en-GB" sz="2600" dirty="0" smtClean="0">
              <a:latin typeface="Arial Narrow" panose="020B0606020202030204" pitchFamily="34" charset="0"/>
            </a:endParaRPr>
          </a:p>
          <a:p>
            <a:endParaRPr lang="en-GB" sz="2600" dirty="0" smtClean="0">
              <a:latin typeface="Arial Narrow" panose="020B0606020202030204" pitchFamily="34" charset="0"/>
            </a:endParaRPr>
          </a:p>
          <a:p>
            <a:pPr lvl="1"/>
            <a:r>
              <a:rPr lang="en-GB" sz="2600" dirty="0" smtClean="0">
                <a:latin typeface="Arial Narrow" panose="020B0606020202030204" pitchFamily="34" charset="0"/>
              </a:rPr>
              <a:t>Uses </a:t>
            </a:r>
            <a:r>
              <a:rPr lang="en-GB" sz="2600" dirty="0">
                <a:latin typeface="Arial Narrow" panose="020B0606020202030204" pitchFamily="34" charset="0"/>
              </a:rPr>
              <a:t>semantic similarity for accurate assessment. </a:t>
            </a:r>
            <a:endParaRPr lang="en-GB" sz="2600" dirty="0" smtClean="0">
              <a:latin typeface="Arial Narrow" panose="020B0606020202030204" pitchFamily="34" charset="0"/>
            </a:endParaRPr>
          </a:p>
          <a:p>
            <a:endParaRPr lang="en-GB" sz="2600" dirty="0">
              <a:latin typeface="Arial Narrow" panose="020B0606020202030204" pitchFamily="34" charset="0"/>
            </a:endParaRPr>
          </a:p>
          <a:p>
            <a:pPr lvl="1"/>
            <a:r>
              <a:rPr lang="en-GB" sz="2600" dirty="0">
                <a:latin typeface="Arial Narrow" panose="020B0606020202030204" pitchFamily="34" charset="0"/>
              </a:rPr>
              <a:t>Provides fast results with feedback. </a:t>
            </a:r>
            <a:endParaRPr lang="en-GB" sz="2600" dirty="0" smtClean="0">
              <a:latin typeface="Arial Narrow" panose="020B0606020202030204" pitchFamily="34" charset="0"/>
            </a:endParaRPr>
          </a:p>
          <a:p>
            <a:endParaRPr lang="en-GB" sz="2600" dirty="0">
              <a:latin typeface="Arial Narrow" panose="020B0606020202030204" pitchFamily="34" charset="0"/>
            </a:endParaRPr>
          </a:p>
          <a:p>
            <a:pPr lvl="1"/>
            <a:r>
              <a:rPr lang="en-GB" sz="2600" dirty="0">
                <a:latin typeface="Arial Narrow" panose="020B0606020202030204" pitchFamily="34" charset="0"/>
              </a:rPr>
              <a:t>Scalable for future educational applications. </a:t>
            </a:r>
          </a:p>
          <a:p>
            <a:pPr marL="0" indent="0" algn="just">
              <a:spcBef>
                <a:spcPts val="0"/>
              </a:spcBef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6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17</a:t>
            </a:fld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b="1" dirty="0" smtClean="0">
                <a:latin typeface="Arial Narrow" panose="020B0606020202030204" pitchFamily="34" charset="0"/>
              </a:rPr>
              <a:t>FUTURE ENHANCEMENTS</a:t>
            </a:r>
            <a:endParaRPr lang="en-IN" sz="4000" b="1" dirty="0">
              <a:latin typeface="Arial Narrow" panose="020B0606020202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1095" y="1625670"/>
            <a:ext cx="10515600" cy="435133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GB" dirty="0" smtClean="0">
              <a:latin typeface="Arial Narrow" panose="020B0606020202030204" pitchFamily="34" charset="0"/>
            </a:endParaRPr>
          </a:p>
          <a:p>
            <a:pPr marL="114300" indent="0">
              <a:buNone/>
            </a:pP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436428" y="1416070"/>
            <a:ext cx="4713150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2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 Mobile application development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 Online exam system integration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 Grammar and spelling evaluation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 Multi-lingual support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 LMS integration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 Cloud deployment </a:t>
            </a:r>
          </a:p>
        </p:txBody>
      </p:sp>
    </p:spTree>
    <p:extLst>
      <p:ext uri="{BB962C8B-B14F-4D97-AF65-F5344CB8AC3E}">
        <p14:creationId xmlns:p14="http://schemas.microsoft.com/office/powerpoint/2010/main" val="2485536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1014</Words>
  <Application>Microsoft Office PowerPoint</Application>
  <PresentationFormat>Widescreen</PresentationFormat>
  <Paragraphs>229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Arial Narrow</vt:lpstr>
      <vt:lpstr>Calibri</vt:lpstr>
      <vt:lpstr>Times New Roman</vt:lpstr>
      <vt:lpstr>Arial Rounded MT Bold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PowerPoint Presentation</vt:lpstr>
      <vt:lpstr>PROBLEMS IDENTIFIED</vt:lpstr>
      <vt:lpstr>PowerPoint Presentation</vt:lpstr>
      <vt:lpstr>SOFTWARE AND HARDWARE REQUIREMENTS </vt:lpstr>
      <vt:lpstr>MODULES </vt:lpstr>
      <vt:lpstr>1. USER INTERFACE MODULE </vt:lpstr>
      <vt:lpstr>2. TEXT PRE-PROCESSING AND REPRESENTATION MODULE </vt:lpstr>
      <vt:lpstr>3. SEMANTIC SIMILARITY EVALUATION MODULE</vt:lpstr>
      <vt:lpstr>4. SCORING AND FEEDBACK MODULE  </vt:lpstr>
      <vt:lpstr>5. DATA STORAGE AND RESULT MANAGEMENT MODULE  </vt:lpstr>
      <vt:lpstr>CONCLUSION</vt:lpstr>
      <vt:lpstr>FUTURE ENHANCEMENTS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Saravanan M</dc:creator>
  <cp:lastModifiedBy>Rakshana Gandhi</cp:lastModifiedBy>
  <cp:revision>41</cp:revision>
  <dcterms:modified xsi:type="dcterms:W3CDTF">2026-03-29T14:05:31Z</dcterms:modified>
</cp:coreProperties>
</file>